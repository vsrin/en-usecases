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6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0" y="3657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AXA XL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201168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  ·  enCODE Platform  ·  Claims Transformation Program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66659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 ·  Confidential and Proprietary  ·  For AXA XL Internal Review Only  ·  June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89720" y="6665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gps@elevatenow.tech  ·  elevatenow.tech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365760"/>
            <a:ext cx="6094476" cy="626364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6217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  ·  CLAIMS TRANSFORMATION PROGRAM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" y="877824"/>
            <a:ext cx="5303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Claims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 with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" y="188366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Adjudication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" y="2465902"/>
            <a:ext cx="5248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governed intelligence layer that encodes expert claim knowledge and applies it consistently at every FNOL, across every line of business AXA XL operates.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9184" y="3515128"/>
            <a:ext cx="5248656" cy="9144"/>
          </a:xfrm>
          <a:prstGeom prst="rect">
            <a:avLst/>
          </a:prstGeom>
          <a:solidFill>
            <a:srgbClr val="2D38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" y="3606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9184" y="404696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encoded at launch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75688" y="3606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&lt;60s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75688" y="404696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FNOL-to-triage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any claim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22192" y="3606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822192" y="404696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lines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one platform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9184" y="4475248"/>
            <a:ext cx="5248656" cy="9144"/>
          </a:xfrm>
          <a:prstGeom prst="rect">
            <a:avLst/>
          </a:prstGeom>
          <a:solidFill>
            <a:srgbClr val="2D38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" y="4758292"/>
            <a:ext cx="5093208" cy="274320"/>
          </a:xfrm>
          <a:prstGeom prst="rect">
            <a:avLst/>
          </a:prstGeom>
          <a:solidFill>
            <a:srgbClr val="2525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4856133"/>
            <a:ext cx="59436" cy="59436"/>
          </a:xfrm>
          <a:prstGeom prst="ellipse">
            <a:avLst/>
          </a:prstGeom>
          <a:solidFill>
            <a:srgbClr val="57CB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758292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CC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LOB  ·  AXA XL's choice  ·  Expanding across all commercial lines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4476" y="365760"/>
            <a:ext cx="6094476" cy="6263640"/>
          </a:xfrm>
          <a:prstGeom prst="rect">
            <a:avLst/>
          </a:prstGeom>
          <a:solidFill>
            <a:srgbClr val="F8F9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68796" y="495475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PROGRAM DELIVERS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68796" y="768096"/>
            <a:ext cx="5541264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8796" y="896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89420" y="8961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Judgment at Scale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9420" y="1188720"/>
            <a:ext cx="5120640" cy="102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 AXA XL's adjuster expertise into jurisdiction-specific rules. Apply it consistently at speed: at first notice, on every claim, regardless of volume or adjuster availability.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68796" y="2247138"/>
            <a:ext cx="5541264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68796" y="235686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89420" y="235686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XL-Owned Intelligence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9420" y="2649474"/>
            <a:ext cx="5120640" cy="102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deploys within AXA XL's infrastructure. All claim data stays in the environment. Designated administrators operate and extend the intelligence layer independently, with no ongoing Elevatenow dependency.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68796" y="3707892"/>
            <a:ext cx="5541264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68796" y="38176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89420" y="38176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Defensible, Auditable Decisions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89420" y="4110228"/>
            <a:ext cx="5120640" cy="102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triage decision traces to a governed rule: jurisdiction, coverage trigger, filing deadline. Regulator-ready audit export at the claim level from day one. When examiners ask, the answer is a click.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68796" y="5168646"/>
            <a:ext cx="5541264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68796" y="527837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6789420" y="527837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Improvement, No Vendor Lock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89420" y="5570982"/>
            <a:ext cx="5120640" cy="102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 administrators update jurisdiction rules, activate new LOBs, and run quarterly knowledge refreshes independently. Elevatenow trains the team and steps back. The intelligence layer is AXA XL's to operate.</a:t>
            </a:r>
            <a:endParaRPr lang="en-US" sz="1200" dirty="0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47F87D1-4A94-C263-75F3-3C877ED0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2" t="44706" r="29411" b="43738"/>
          <a:stretch/>
        </p:blipFill>
        <p:spPr>
          <a:xfrm>
            <a:off x="160865" y="236051"/>
            <a:ext cx="1418107" cy="223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0" y="3657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AXA XL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201168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  ·  enCODE Platform  ·  Claims Transformation Program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66659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 ·  Confidential and Proprietary  ·  For AXA XL Internal Review Only  ·  June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89720" y="6665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gps@elevatenow.tech  ·  elevatenow.tech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365760"/>
            <a:ext cx="12188952" cy="475488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" y="52853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Success Looks Like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" y="884200"/>
            <a:ext cx="27180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" y="1264850"/>
            <a:ext cx="2718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Adjuster Expertise Across Every Claim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8323" y="1834065"/>
            <a:ext cx="2791206" cy="475488"/>
          </a:xfrm>
          <a:prstGeom prst="rect">
            <a:avLst/>
          </a:prstGeom>
          <a:solidFill>
            <a:srgbClr val="EEF1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4899" y="1870641"/>
            <a:ext cx="27180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Expert-quality triage on 100% of FNOLs from day 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" y="2550639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Jurisdiction-specific rules encode expert adjuster judgment at intake</a:t>
            </a:r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at first notice on every FNOL, regardless of volume or geography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triggers, filing deadlines, and severity thresholds evaluated in seconds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triage quality across all adjusters and claim types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outcomes stop depending on who picks up the case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" y="3136392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" y="3986784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7238" y="841248"/>
            <a:ext cx="9144" cy="5788152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11830" y="884200"/>
            <a:ext cx="27180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02686" y="1264850"/>
            <a:ext cx="2718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 Claims Throughput Without Adding Headcount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186417" y="1843630"/>
            <a:ext cx="2791206" cy="475488"/>
          </a:xfrm>
          <a:prstGeom prst="rect">
            <a:avLst/>
          </a:prstGeom>
          <a:solidFill>
            <a:srgbClr val="EEF1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4705" y="1867658"/>
            <a:ext cx="27180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ops capacity scales with volume, not headcount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12229" y="2550639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claim enters the right workflow at intake with no manual sorting</a:t>
            </a:r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Adjusters focus on judgment calls, not first-notice classification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High-severity and complex claims escalate automatically from intake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scales with claim volume, not with team size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additional headcount needed to absorb volume growth</a:t>
            </a:r>
            <a:endParaRPr lang="en-US" sz="1400" dirty="0"/>
          </a:p>
          <a:p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58134" y="3136392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58134" y="3986784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58134" y="4837176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58134" y="5687568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94476" y="841248"/>
            <a:ext cx="9144" cy="5788152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59068" y="884200"/>
            <a:ext cx="27180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59068" y="1264850"/>
            <a:ext cx="2718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Defensible Audit Trail from First Notice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24511" y="1848515"/>
            <a:ext cx="2791206" cy="475488"/>
          </a:xfrm>
          <a:prstGeom prst="rect">
            <a:avLst/>
          </a:prstGeom>
          <a:solidFill>
            <a:srgbClr val="EEF1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61087" y="1885091"/>
            <a:ext cx="27180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Regulator-ready decision records at the claim level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32220" y="2550639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traces to a specific jurisdiction rule and coverage trigger</a:t>
            </a:r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Filing deadlines and statutory requirements logged at the claim level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Regulator-ready audit export available on demand, no manual reconstruction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to any examiner question is a click, not a multi-system search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regulator, litigation, and internal review from day one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5372" y="3136392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5372" y="3986784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5372" y="4837176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405372" y="5687568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41714" y="841248"/>
            <a:ext cx="9144" cy="5788152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306306" y="884200"/>
            <a:ext cx="27180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Text 60"/>
          <p:cNvSpPr/>
          <p:nvPr/>
        </p:nvSpPr>
        <p:spPr>
          <a:xfrm>
            <a:off x="9306306" y="1264850"/>
            <a:ext cx="2718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Across All LOBs Without New Procurement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262605" y="1844903"/>
            <a:ext cx="2791206" cy="475488"/>
          </a:xfrm>
          <a:prstGeom prst="rect">
            <a:avLst/>
          </a:prstGeom>
          <a:solidFill>
            <a:srgbClr val="EEF1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299181" y="1881479"/>
            <a:ext cx="27180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LOB live in 4 weeks on the platform AXA XL already owns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288018" y="2550639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agreement signed once, governs all future LOBs</a:t>
            </a:r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LOB activates via a one-page Order Form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4-week enablement sprint per new line of business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new vendor review, no infrastructure to rebuild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444444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layer compounds: each LOB reinforces the shared knowledge base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452610" y="3136392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452610" y="3986784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452610" y="4837176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452610" y="5687568"/>
            <a:ext cx="26814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65CBB88-6C34-93BC-CEC9-C72FCF483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2" t="44706" r="29411" b="43738"/>
          <a:stretch/>
        </p:blipFill>
        <p:spPr>
          <a:xfrm>
            <a:off x="160865" y="179606"/>
            <a:ext cx="1418107" cy="2238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0" y="3657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AXA XL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201168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  ·  enCODE Platform  ·  Commercial Proposal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66659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 ·  Confidential and Proprietary  ·  For AXA XL Internal Review Only  ·  June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89720" y="6665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gps@elevatenow.tech  ·  elevatenow.tech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365760"/>
            <a:ext cx="12188952" cy="585216"/>
          </a:xfrm>
          <a:prstGeom prst="rect">
            <a:avLst/>
          </a:prstGeom>
          <a:solidFill>
            <a:srgbClr val="2145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411480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  ·  FNOL INTELLIGENCE FOR INSURANCE CARRIERS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" y="5852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FNOL Intelligence Platform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950976"/>
            <a:ext cx="12188952" cy="987552"/>
          </a:xfrm>
          <a:prstGeom prst="rect">
            <a:avLst/>
          </a:prstGeom>
          <a:solidFill>
            <a:srgbClr val="0F12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" y="10607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777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10607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1298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B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FNOL triage decision traces to a jurisdiction-specific encoded rule, defensible from first notice.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62984" y="1097280"/>
            <a:ext cx="9144" cy="694944"/>
          </a:xfrm>
          <a:prstGeom prst="rect">
            <a:avLst/>
          </a:prstGeom>
          <a:solidFill>
            <a:srgbClr val="3A3A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82440" y="10607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777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9912" y="10607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9912" y="1298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B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XL's designated administrators operate the configuration environment from go-live. No ongoing Elevatenow dependency.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5968" y="1097280"/>
            <a:ext cx="9144" cy="694944"/>
          </a:xfrm>
          <a:prstGeom prst="rect">
            <a:avLst/>
          </a:prstGeom>
          <a:solidFill>
            <a:srgbClr val="3A3A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45424" y="10607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777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92896" y="10607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COST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92896" y="1298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B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$100K per active LOB per year from Year 2. Cost scales with active use. No expansion means no cost increase.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2066544"/>
            <a:ext cx="5756148" cy="4453128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2066544"/>
            <a:ext cx="5756148" cy="530352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" y="2130552"/>
            <a:ext cx="5463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Inaugural Year Package for the Platform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2336" y="2414016"/>
            <a:ext cx="54635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+ first LOB activated + first-year platform access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6032" y="2596896"/>
            <a:ext cx="5756148" cy="365760"/>
          </a:xfrm>
          <a:prstGeom prst="rect">
            <a:avLst/>
          </a:prstGeom>
          <a:solidFill>
            <a:srgbClr val="2145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336" y="26334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$250K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408176" y="2661542"/>
            <a:ext cx="40736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total  ·  no setup fees ever recur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2962656"/>
            <a:ext cx="5756148" cy="355701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2336" y="3085995"/>
            <a:ext cx="5463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Covers $150K one-time deployment and $100K first-year platform access, bundled into a single Year 1 commitment. Platform access begins at first LOB go-live. From Year 2, AXA XL pays $100K per active LOB, nothing more.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2336" y="388896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3888968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deployed on AXA XL infrastructure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2336" y="4291304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" y="4291304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LOB activated: WC, GL, Property, or Auto (AXA XL's choice)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2336" y="469364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" y="4693640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intake, triage engine, REST API, SDK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" y="509597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5095976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 enablement program (2 designated leads)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2336" y="5498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" y="5498312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 escrow with third-party custodian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02336" y="590064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928" y="5900648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60-day go-live support, then AXA XL-operated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76772" y="2066544"/>
            <a:ext cx="5756148" cy="4453128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76772" y="2066544"/>
            <a:ext cx="5756148" cy="530352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23076" y="2130552"/>
            <a:ext cx="5463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Subscription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23076" y="2414016"/>
            <a:ext cx="54635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$100K per active LOB in production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176772" y="2596896"/>
            <a:ext cx="5756148" cy="365760"/>
          </a:xfrm>
          <a:prstGeom prst="rect">
            <a:avLst/>
          </a:prstGeom>
          <a:solidFill>
            <a:srgbClr val="2145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23076" y="26334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$100K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298294" y="2651760"/>
            <a:ext cx="40736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active LOB per year  ·  auto-renews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76772" y="2962656"/>
            <a:ext cx="5756148" cy="355701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23076" y="3085995"/>
            <a:ext cx="5463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XL's annual cost is $100K multiplied by active LOBs. No expansion means $100K flat. Each new LOB added via a one-page Order Form with no renegotiation of the master agreement.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323076" y="388896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487668" y="3888968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active LOBs on the FNOL claims knowledge layer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323076" y="4291304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87668" y="4291304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knowledge updates, admin-applied by AXA XL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323076" y="469364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87668" y="4693640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decision audit trail, regulator-ready export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323076" y="509597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487668" y="5095976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engineering contact and SLA tiers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323076" y="5498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87668" y="5498312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hrs/year advisory access included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323076" y="590064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487668" y="5900648"/>
            <a:ext cx="5280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LOB: one-page Order Form + 4-week enablement sprint</a:t>
            </a:r>
            <a:endParaRPr lang="en-US" sz="1200" dirty="0"/>
          </a:p>
        </p:txBody>
      </p:sp>
      <p:pic>
        <p:nvPicPr>
          <p:cNvPr id="70" name="Picture 69" descr="A black and white logo&#10;&#10;Description automatically generated">
            <a:extLst>
              <a:ext uri="{FF2B5EF4-FFF2-40B4-BE49-F238E27FC236}">
                <a16:creationId xmlns:a16="http://schemas.microsoft.com/office/drawing/2014/main" id="{8976328B-16BA-2C82-D192-20D4ACB2ED9D}"/>
              </a:ext>
            </a:extLst>
          </p:cNvPr>
          <p:cNvPicPr>
            <a:picLocks noChangeAspect="1"/>
          </p:cNvPicPr>
          <p:nvPr/>
        </p:nvPicPr>
        <p:blipFill>
          <a:blip/>
          <a:srcRect l="29412" t="44706" r="29411" b="43738"/>
          <a:stretch/>
        </p:blipFill>
        <p:spPr>
          <a:xfrm>
            <a:off x="148323" y="74330"/>
            <a:ext cx="1375296" cy="21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0" y="3657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AXA XL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201168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  ·  enCODE Platform  ·  Commercial Proposal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66659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 ·  Confidential and Proprietary  ·  For AXA XL Internal Review Only  ·  June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89720" y="6665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gps@elevatenow.tech  ·  elevatenow.tech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365760"/>
            <a:ext cx="12188952" cy="45720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4114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TERMS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" y="557784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AXA XL Retains  ·  How the Commercial Relationship Works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822960"/>
            <a:ext cx="6094476" cy="5806440"/>
          </a:xfrm>
          <a:prstGeom prst="rect">
            <a:avLst/>
          </a:prstGeom>
          <a:solidFill>
            <a:srgbClr val="F8F9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838690"/>
            <a:ext cx="6094476" cy="5763278"/>
          </a:xfrm>
          <a:prstGeom prst="rect">
            <a:avLst/>
          </a:prstGeom>
          <a:solidFill>
            <a:srgbClr val="F0F2FA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105177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AXA XL RETAINS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" y="1335024"/>
            <a:ext cx="4937760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108" y="1627632"/>
            <a:ext cx="4791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Wingdings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runs on AXA XL infrastructure. All claim data stays within AXA XL's environment.</a:t>
            </a:r>
          </a:p>
          <a:p>
            <a:pPr marL="285750" indent="-285750" algn="l">
              <a:buFont typeface="Wingdings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 administrators operate the configuration environment from go-live.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FNOL decision records, claim traces, and jurisdiction audit logs.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 escrow releases to AXA XL on Elevatenow dissolution.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configure and extend triage rules independently.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endParaRPr lang="en-US" sz="1400" dirty="0"/>
          </a:p>
          <a:p>
            <a:pPr marL="285750" indent="-285750" algn="l"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2532888"/>
            <a:ext cx="4791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94476" y="822960"/>
            <a:ext cx="6094476" cy="5806440"/>
          </a:xfrm>
          <a:prstGeom prst="rect">
            <a:avLst/>
          </a:prstGeom>
          <a:solidFill>
            <a:srgbClr val="1C1C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3660" y="103050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STRUCTURE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23660" y="1335024"/>
            <a:ext cx="5120640" cy="9144"/>
          </a:xfrm>
          <a:prstGeom prst="rect">
            <a:avLst/>
          </a:prstGeom>
          <a:solidFill>
            <a:srgbClr val="3A4880"/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23660" y="1585442"/>
            <a:ext cx="512064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US" sz="1400" dirty="0">
                <a:solidFill>
                  <a:srgbClr val="EE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License Agreement signed once. Annual platform access auto-renews.</a:t>
            </a:r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>
              <a:solidFill>
                <a:srgbClr val="EEF2FF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EE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LOB is a one-page Order Form. No renegotiation of the master agreement.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EEF2FF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EE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document intelligence layer at consumption-based pricing, or bring your own.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EEF2FF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EE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support arrangements available on request for teams requiring expanded engagement.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EEF2FF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EE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retains platform source code, FNOL knowledge base, and all platform IP.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>
              <a:solidFill>
                <a:srgbClr val="EEF2FF"/>
              </a:solidFill>
              <a:latin typeface="Inter" pitchFamily="34" charset="0"/>
              <a:ea typeface="Inter" pitchFamily="34" charset="-122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>
                <a:solidFill>
                  <a:srgbClr val="EE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retains right to deploy the platform with other carriers.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 algn="l"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8252" y="2360676"/>
            <a:ext cx="512064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8252" y="5804916"/>
            <a:ext cx="512064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B8BB0E31-6F9D-45D6-750F-2834CA61AE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2" t="44706" r="29411" b="43738"/>
          <a:stretch/>
        </p:blipFill>
        <p:spPr>
          <a:xfrm>
            <a:off x="160865" y="77642"/>
            <a:ext cx="1418107" cy="223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82712" y="457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AXA XL INTERNAL REVIEW ONLY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82712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 · Claims Transformation Program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0" y="365760"/>
            <a:ext cx="12188952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02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45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OVERVIEW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" y="5303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822960"/>
            <a:ext cx="4059936" cy="5212080"/>
          </a:xfrm>
          <a:prstGeom prst="rect">
            <a:avLst/>
          </a:prstGeom>
          <a:solidFill>
            <a:srgbClr val="1C1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4059936" cy="402336"/>
          </a:xfrm>
          <a:prstGeom prst="rect">
            <a:avLst/>
          </a:prstGeom>
          <a:solidFill>
            <a:srgbClr val="151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" y="923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13350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Deploys and hands over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1168" y="1901952"/>
            <a:ext cx="164592" cy="36576"/>
          </a:xfrm>
          <a:prstGeom prst="rect">
            <a:avLst/>
          </a:prstGeom>
          <a:solidFill>
            <a:srgbClr val="57C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181051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engine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" y="2414016"/>
            <a:ext cx="164592" cy="36576"/>
          </a:xfrm>
          <a:prstGeom prst="rect">
            <a:avLst/>
          </a:prstGeom>
          <a:solidFill>
            <a:srgbClr val="57C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32257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FNOL knowledge layer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" y="2926080"/>
            <a:ext cx="164592" cy="36576"/>
          </a:xfrm>
          <a:prstGeom prst="rect">
            <a:avLst/>
          </a:prstGeom>
          <a:solidFill>
            <a:srgbClr val="57C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Jurisdiction-encoded rules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438144"/>
            <a:ext cx="164592" cy="36576"/>
          </a:xfrm>
          <a:prstGeom prst="rect">
            <a:avLst/>
          </a:prstGeom>
          <a:solidFill>
            <a:srgbClr val="57C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34670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+ SDK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1168" y="3950208"/>
            <a:ext cx="164592" cy="36576"/>
          </a:xfrm>
          <a:prstGeom prst="rect">
            <a:avLst/>
          </a:prstGeom>
          <a:solidFill>
            <a:srgbClr val="57C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 enablement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" y="4590288"/>
            <a:ext cx="3657600" cy="13716"/>
          </a:xfrm>
          <a:prstGeom prst="rect">
            <a:avLst/>
          </a:prstGeom>
          <a:solidFill>
            <a:srgbClr val="3355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" y="4718304"/>
            <a:ext cx="3657600" cy="512064"/>
          </a:xfrm>
          <a:prstGeom prst="rect">
            <a:avLst/>
          </a:prstGeom>
          <a:solidFill>
            <a:srgbClr val="252560"/>
          </a:solidFill>
          <a:ln w="12700">
            <a:solidFill>
              <a:srgbClr val="33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4773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2608" y="49560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FNOL Intelligence Core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01168" y="5303520"/>
            <a:ext cx="3657600" cy="512064"/>
          </a:xfrm>
          <a:prstGeom prst="rect">
            <a:avLst/>
          </a:prstGeom>
          <a:solidFill>
            <a:srgbClr val="2145EA"/>
          </a:solidFill>
          <a:ln w="12700">
            <a:solidFill>
              <a:srgbClr val="57C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2608" y="53583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2608" y="55412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FNOL Core + Document Intelligence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059936" y="822960"/>
            <a:ext cx="1700784" cy="5212080"/>
          </a:xfrm>
          <a:prstGeom prst="rect">
            <a:avLst/>
          </a:prstGeom>
          <a:solidFill>
            <a:srgbClr val="2145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59936" y="822960"/>
            <a:ext cx="1700784" cy="402336"/>
          </a:xfrm>
          <a:prstGeom prst="rect">
            <a:avLst/>
          </a:prstGeom>
          <a:solidFill>
            <a:srgbClr val="173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69664" y="92354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51376" y="1408176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60-Day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133088" y="2487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34256" y="2816352"/>
            <a:ext cx="1170432" cy="9144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33088" y="30723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34256" y="3401568"/>
            <a:ext cx="1170432" cy="9144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33088" y="36576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training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34256" y="3986784"/>
            <a:ext cx="1170432" cy="9144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33088" y="42428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760720" y="822960"/>
            <a:ext cx="6428232" cy="521208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760720" y="822960"/>
            <a:ext cx="6428232" cy="402336"/>
          </a:xfrm>
          <a:prstGeom prst="rect">
            <a:avLst/>
          </a:prstGeom>
          <a:solidFill>
            <a:srgbClr val="EA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16752" y="923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16752" y="1335024"/>
            <a:ext cx="6025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Owns, operates, and extends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016752" y="1892808"/>
            <a:ext cx="91440" cy="91440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99632" y="1828800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decisions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99632" y="2084832"/>
            <a:ext cx="5843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 administrators configure and evolve triage rules independently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016752" y="2825496"/>
            <a:ext cx="91440" cy="91440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99632" y="2761488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claim data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199632" y="3017520"/>
            <a:ext cx="5843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Stays entirely within AXA XL infrastructure — never leaves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016752" y="3758184"/>
            <a:ext cx="91440" cy="91440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199632" y="3694176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configuration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199632" y="3950208"/>
            <a:ext cx="5843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edit, or extend jurisdiction rules without Elevatenow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16752" y="4690872"/>
            <a:ext cx="91440" cy="91440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199632" y="4626864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on own terms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199632" y="4882896"/>
            <a:ext cx="5843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LOB added via Order Form when AXA XL is ready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016752" y="5504688"/>
            <a:ext cx="5916168" cy="420624"/>
          </a:xfrm>
          <a:prstGeom prst="rect">
            <a:avLst/>
          </a:prstGeom>
          <a:solidFill>
            <a:srgbClr val="E8EBFF"/>
          </a:solidFill>
          <a:ln w="12700">
            <a:solidFill>
              <a:srgbClr val="D0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144768" y="5541264"/>
            <a:ext cx="5660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ownership model across both tracks. The scope slides that follow show each track in practice.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0" y="6053328"/>
            <a:ext cx="12188952" cy="329184"/>
          </a:xfrm>
          <a:prstGeom prst="rect">
            <a:avLst/>
          </a:prstGeom>
          <a:solidFill>
            <a:srgbClr val="0F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6080760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 adds one component to go-live scope: Document Intelligence. After handover, AXA XL runs both tracks the same way.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0" y="6400800"/>
            <a:ext cx="12188952" cy="228600"/>
          </a:xfrm>
          <a:prstGeom prst="rect">
            <a:avLst/>
          </a:prstGeom>
          <a:solidFill>
            <a:srgbClr val="1C1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28600" y="64282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Elevatenow · Confidential and Proprietary · For AXA XL Internal Review Only · June 2026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988552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C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gps@elevatenow.tech · elevatenow.tech</a:t>
            </a:r>
            <a:endParaRPr lang="en-US" sz="1000" dirty="0"/>
          </a:p>
        </p:txBody>
      </p:sp>
      <p:pic>
        <p:nvPicPr>
          <p:cNvPr id="69" name="Picture 68" descr="A black and white logo&#10;&#10;Description automatically generated">
            <a:extLst>
              <a:ext uri="{FF2B5EF4-FFF2-40B4-BE49-F238E27FC236}">
                <a16:creationId xmlns:a16="http://schemas.microsoft.com/office/drawing/2014/main" id="{2181496A-FBD0-4D91-1935-E89F7321A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2" t="44706" r="29411" b="43738"/>
          <a:stretch/>
        </p:blipFill>
        <p:spPr>
          <a:xfrm>
            <a:off x="185928" y="78063"/>
            <a:ext cx="1418107" cy="223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1FBF-F5A3-C50B-9602-F1178077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9F2B79-9A6B-5593-B27F-D8E8E72DC6E7}"/>
              </a:ext>
            </a:extLst>
          </p:cNvPr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 w="12700">
            <a:solidFill>
              <a:srgbClr val="1C1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F48F7C-0D11-102B-4381-225D95D8E528}"/>
              </a:ext>
            </a:extLst>
          </p:cNvPr>
          <p:cNvSpPr/>
          <p:nvPr/>
        </p:nvSpPr>
        <p:spPr>
          <a:xfrm>
            <a:off x="6858000" y="4572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5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PREPARED FOR AXA XL  ·  CONFIDENTIAL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CBE43A0-467B-E760-DF62-FE27F92E97AA}"/>
              </a:ext>
            </a:extLst>
          </p:cNvPr>
          <p:cNvSpPr/>
          <p:nvPr/>
        </p:nvSpPr>
        <p:spPr>
          <a:xfrm>
            <a:off x="6858000" y="201168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June 2026  ·  enCODE Platform 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AE41491-FB94-DADE-7B9A-BF8477C7BE53}"/>
              </a:ext>
            </a:extLst>
          </p:cNvPr>
          <p:cNvSpPr/>
          <p:nvPr/>
        </p:nvSpPr>
        <p:spPr>
          <a:xfrm>
            <a:off x="0" y="365760"/>
            <a:ext cx="121889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E20AA4E-38D6-DA05-D7DD-59823EDB25AE}"/>
              </a:ext>
            </a:extLst>
          </p:cNvPr>
          <p:cNvSpPr/>
          <p:nvPr/>
        </p:nvSpPr>
        <p:spPr>
          <a:xfrm>
            <a:off x="3048" y="952054"/>
            <a:ext cx="12188952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D810CA-F288-B59E-796D-5F54353CA3A0}"/>
              </a:ext>
            </a:extLst>
          </p:cNvPr>
          <p:cNvSpPr/>
          <p:nvPr/>
        </p:nvSpPr>
        <p:spPr>
          <a:xfrm>
            <a:off x="1941688" y="90100"/>
            <a:ext cx="8501845" cy="17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ENCODE  ·  PROPERTY LOB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5D4B496-E50C-24F7-FEFE-A862ACEB6A50}"/>
              </a:ext>
            </a:extLst>
          </p:cNvPr>
          <p:cNvSpPr/>
          <p:nvPr/>
        </p:nvSpPr>
        <p:spPr>
          <a:xfrm>
            <a:off x="167640" y="446067"/>
            <a:ext cx="9509760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XL's existing pipeline delivers structured FNOL data to </a:t>
            </a:r>
            <a:r>
              <a:rPr lang="en-US" sz="1400" b="1" dirty="0" err="1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</a:t>
            </a:r>
            <a:r>
              <a:rPr lang="en-US" sz="14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Elevatenow applies triage intelligence at the API boundary with no overlap with AXA XL's current intake operations.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440C48-0B77-87DF-EE54-42CC62092312}"/>
              </a:ext>
            </a:extLst>
          </p:cNvPr>
          <p:cNvSpPr/>
          <p:nvPr/>
        </p:nvSpPr>
        <p:spPr>
          <a:xfrm>
            <a:off x="10149840" y="429768"/>
            <a:ext cx="1810512" cy="402336"/>
          </a:xfrm>
          <a:prstGeom prst="rect">
            <a:avLst/>
          </a:prstGeom>
          <a:solidFill>
            <a:srgbClr val="1C1C46"/>
          </a:solidFill>
          <a:ln w="19050">
            <a:solidFill>
              <a:srgbClr val="1C1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067A91-DDC9-8568-98F0-DD3ABD313539}"/>
              </a:ext>
            </a:extLst>
          </p:cNvPr>
          <p:cNvSpPr/>
          <p:nvPr/>
        </p:nvSpPr>
        <p:spPr>
          <a:xfrm>
            <a:off x="10149840" y="47548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TRACK A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2A588A-9714-2503-4BA8-8C5A58AD4505}"/>
              </a:ext>
            </a:extLst>
          </p:cNvPr>
          <p:cNvSpPr/>
          <p:nvPr/>
        </p:nvSpPr>
        <p:spPr>
          <a:xfrm>
            <a:off x="10149840" y="630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FNOL Intelligence Core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0AD8879-46F4-30D5-8D9A-CB8635062031}"/>
              </a:ext>
            </a:extLst>
          </p:cNvPr>
          <p:cNvSpPr/>
          <p:nvPr/>
        </p:nvSpPr>
        <p:spPr>
          <a:xfrm>
            <a:off x="4062984" y="896112"/>
            <a:ext cx="9144" cy="5193792"/>
          </a:xfrm>
          <a:prstGeom prst="rect">
            <a:avLst/>
          </a:prstGeom>
          <a:solidFill>
            <a:srgbClr val="E0E4F0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EB27CE5-C35E-C218-2E1B-42C37E57587E}"/>
              </a:ext>
            </a:extLst>
          </p:cNvPr>
          <p:cNvSpPr/>
          <p:nvPr/>
        </p:nvSpPr>
        <p:spPr>
          <a:xfrm>
            <a:off x="8125968" y="896112"/>
            <a:ext cx="9144" cy="5193792"/>
          </a:xfrm>
          <a:prstGeom prst="rect">
            <a:avLst/>
          </a:prstGeom>
          <a:solidFill>
            <a:srgbClr val="E0E4F0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F9A317A-DB49-9DF3-2C5A-1D133419368B}"/>
              </a:ext>
            </a:extLst>
          </p:cNvPr>
          <p:cNvSpPr/>
          <p:nvPr/>
        </p:nvSpPr>
        <p:spPr>
          <a:xfrm>
            <a:off x="3048" y="961198"/>
            <a:ext cx="4062984" cy="721164"/>
          </a:xfrm>
          <a:prstGeom prst="rect">
            <a:avLst/>
          </a:prstGeom>
          <a:solidFill>
            <a:srgbClr val="1C1C46"/>
          </a:solidFill>
          <a:ln w="12700">
            <a:solidFill>
              <a:srgbClr val="1C1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0EA095B-4195-F472-9126-07043C6C2B98}"/>
              </a:ext>
            </a:extLst>
          </p:cNvPr>
          <p:cNvSpPr/>
          <p:nvPr/>
        </p:nvSpPr>
        <p:spPr>
          <a:xfrm>
            <a:off x="167640" y="997774"/>
            <a:ext cx="3861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LANE 1 · ELEVATENOW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C80EB2D-FB6D-BE00-F628-99FFE45F72CC}"/>
              </a:ext>
            </a:extLst>
          </p:cNvPr>
          <p:cNvSpPr/>
          <p:nvPr/>
        </p:nvSpPr>
        <p:spPr>
          <a:xfrm>
            <a:off x="167640" y="1183882"/>
            <a:ext cx="386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Platform Vendor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96AC94-B828-8311-EA00-BCED34D97869}"/>
              </a:ext>
            </a:extLst>
          </p:cNvPr>
          <p:cNvSpPr/>
          <p:nvPr/>
        </p:nvSpPr>
        <p:spPr>
          <a:xfrm>
            <a:off x="167640" y="1435612"/>
            <a:ext cx="3861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Intake  ·  triage intelligence  ·  knowledge layer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F4CA317-D900-C9FA-3519-ECDE288AD1CA}"/>
              </a:ext>
            </a:extLst>
          </p:cNvPr>
          <p:cNvSpPr/>
          <p:nvPr/>
        </p:nvSpPr>
        <p:spPr>
          <a:xfrm>
            <a:off x="4066032" y="961198"/>
            <a:ext cx="4062984" cy="721164"/>
          </a:xfrm>
          <a:prstGeom prst="rect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42A134-081B-003A-88FB-CC6C15316965}"/>
              </a:ext>
            </a:extLst>
          </p:cNvPr>
          <p:cNvSpPr/>
          <p:nvPr/>
        </p:nvSpPr>
        <p:spPr>
          <a:xfrm>
            <a:off x="4230624" y="997774"/>
            <a:ext cx="3861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8C4FF"/>
                </a:solidFill>
                <a:ea typeface="Inter" pitchFamily="34" charset="-122"/>
                <a:cs typeface="Inter" pitchFamily="34" charset="-120"/>
              </a:rPr>
              <a:t>LANE 2 · JOINT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3218573-AC46-028D-2DA3-B2F5B9F8F3C6}"/>
              </a:ext>
            </a:extLst>
          </p:cNvPr>
          <p:cNvSpPr/>
          <p:nvPr/>
        </p:nvSpPr>
        <p:spPr>
          <a:xfrm>
            <a:off x="4230624" y="1183882"/>
            <a:ext cx="386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Collaborative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2B4AF71-296F-9A53-E07C-407D16CE157D}"/>
              </a:ext>
            </a:extLst>
          </p:cNvPr>
          <p:cNvSpPr/>
          <p:nvPr/>
        </p:nvSpPr>
        <p:spPr>
          <a:xfrm>
            <a:off x="4230624" y="1457128"/>
            <a:ext cx="3861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Triage logic  ·  integration  ·  testing  ·  enablement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A50341F-A97E-6640-15F9-84DB67E958D1}"/>
              </a:ext>
            </a:extLst>
          </p:cNvPr>
          <p:cNvSpPr/>
          <p:nvPr/>
        </p:nvSpPr>
        <p:spPr>
          <a:xfrm>
            <a:off x="8129016" y="961198"/>
            <a:ext cx="4062984" cy="7211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55D8969-5804-0395-7738-85BCE3D11A9B}"/>
              </a:ext>
            </a:extLst>
          </p:cNvPr>
          <p:cNvSpPr/>
          <p:nvPr/>
        </p:nvSpPr>
        <p:spPr>
          <a:xfrm>
            <a:off x="8293608" y="997774"/>
            <a:ext cx="3861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145EA"/>
                </a:solidFill>
                <a:ea typeface="Inter" pitchFamily="34" charset="-122"/>
                <a:cs typeface="Inter" pitchFamily="34" charset="-120"/>
              </a:rPr>
              <a:t>LANE 3 · AXA XL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3D214F4-DA5B-3686-DAF1-C193631C9558}"/>
              </a:ext>
            </a:extLst>
          </p:cNvPr>
          <p:cNvSpPr/>
          <p:nvPr/>
        </p:nvSpPr>
        <p:spPr>
          <a:xfrm>
            <a:off x="8293608" y="1183882"/>
            <a:ext cx="386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Internal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D6938EC-BAE2-BBA3-5458-4B6D9C75D58C}"/>
              </a:ext>
            </a:extLst>
          </p:cNvPr>
          <p:cNvSpPr/>
          <p:nvPr/>
        </p:nvSpPr>
        <p:spPr>
          <a:xfrm>
            <a:off x="8293608" y="1435612"/>
            <a:ext cx="3861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Infrastructure  ·  business ownership  ·  operations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372D73C-3DDE-CB0C-B446-ADDF6474D121}"/>
              </a:ext>
            </a:extLst>
          </p:cNvPr>
          <p:cNvSpPr/>
          <p:nvPr/>
        </p:nvSpPr>
        <p:spPr>
          <a:xfrm>
            <a:off x="0" y="1672276"/>
            <a:ext cx="4062984" cy="4417628"/>
          </a:xfrm>
          <a:prstGeom prst="rect">
            <a:avLst/>
          </a:prstGeom>
          <a:solidFill>
            <a:srgbClr val="F3F5FF"/>
          </a:solidFill>
          <a:ln w="12700">
            <a:solidFill>
              <a:srgbClr val="F3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F012105-71CF-1190-D704-AF4C9F20E922}"/>
              </a:ext>
            </a:extLst>
          </p:cNvPr>
          <p:cNvSpPr/>
          <p:nvPr/>
        </p:nvSpPr>
        <p:spPr>
          <a:xfrm>
            <a:off x="128016" y="1947806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B7F761E-8E49-5623-F6E4-E3DC2635BE48}"/>
              </a:ext>
            </a:extLst>
          </p:cNvPr>
          <p:cNvSpPr/>
          <p:nvPr/>
        </p:nvSpPr>
        <p:spPr>
          <a:xfrm>
            <a:off x="301752" y="191123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Platform Deployment</a:t>
            </a:r>
            <a:endParaRPr lang="en-US" sz="1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9E5C2EE-0654-5B6C-E8F7-629DDBE72C27}"/>
              </a:ext>
            </a:extLst>
          </p:cNvPr>
          <p:cNvSpPr/>
          <p:nvPr/>
        </p:nvSpPr>
        <p:spPr>
          <a:xfrm>
            <a:off x="301752" y="2139830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Deployed on AXA XL infrastructure to Elevatenow spec. Readiness confirmed before project clock starts.</a:t>
            </a:r>
            <a:endParaRPr lang="en-US" sz="12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BA2FA70-A380-CE64-8D95-B398E4513015}"/>
              </a:ext>
            </a:extLst>
          </p:cNvPr>
          <p:cNvSpPr/>
          <p:nvPr/>
        </p:nvSpPr>
        <p:spPr>
          <a:xfrm>
            <a:off x="128016" y="2803017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FE2DFE9-F11E-D177-323D-B7F29B761D0A}"/>
              </a:ext>
            </a:extLst>
          </p:cNvPr>
          <p:cNvSpPr/>
          <p:nvPr/>
        </p:nvSpPr>
        <p:spPr>
          <a:xfrm>
            <a:off x="301752" y="2766441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Property Triage Rules</a:t>
            </a:r>
            <a:endParaRPr lang="en-US" sz="14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D5C0551-9A77-48DD-6884-EDD1F36D7E6F}"/>
              </a:ext>
            </a:extLst>
          </p:cNvPr>
          <p:cNvSpPr/>
          <p:nvPr/>
        </p:nvSpPr>
        <p:spPr>
          <a:xfrm>
            <a:off x="301752" y="2995041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Jurisdiction-specific rule set: cause of loss, coverage triggers, state deadlines, reserve indicators.</a:t>
            </a:r>
            <a:endParaRPr lang="en-US" sz="12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AAD40B8-01D2-D346-EA95-9F7B591A702E}"/>
              </a:ext>
            </a:extLst>
          </p:cNvPr>
          <p:cNvSpPr/>
          <p:nvPr/>
        </p:nvSpPr>
        <p:spPr>
          <a:xfrm>
            <a:off x="118872" y="4391264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C1377D5-6059-B37A-9EA3-9EA7DC468005}"/>
              </a:ext>
            </a:extLst>
          </p:cNvPr>
          <p:cNvSpPr/>
          <p:nvPr/>
        </p:nvSpPr>
        <p:spPr>
          <a:xfrm>
            <a:off x="292608" y="4354688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Knowledge Layer + Quarterly Updates</a:t>
            </a:r>
            <a:endParaRPr lang="en-US" sz="14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51F1C5A-1ED4-149E-D34D-E87089FA0F8B}"/>
              </a:ext>
            </a:extLst>
          </p:cNvPr>
          <p:cNvSpPr/>
          <p:nvPr/>
        </p:nvSpPr>
        <p:spPr>
          <a:xfrm>
            <a:off x="292608" y="4583288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Property coverage logic and jurisdiction frameworks. Versioned updates self-applied by AXA XL administrators.</a:t>
            </a:r>
            <a:endParaRPr lang="en-US" sz="12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D09A438-C8F1-31BC-41E5-2B06284F4F06}"/>
              </a:ext>
            </a:extLst>
          </p:cNvPr>
          <p:cNvSpPr/>
          <p:nvPr/>
        </p:nvSpPr>
        <p:spPr>
          <a:xfrm>
            <a:off x="150876" y="5195958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25DEFC3-A555-5E90-1364-2B376D4435D8}"/>
              </a:ext>
            </a:extLst>
          </p:cNvPr>
          <p:cNvSpPr/>
          <p:nvPr/>
        </p:nvSpPr>
        <p:spPr>
          <a:xfrm>
            <a:off x="324612" y="5133982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60-Day Go-Live Support</a:t>
            </a:r>
            <a:endParaRPr lang="en-US" sz="14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AB228C5-D6BD-4ED0-84DF-8539CD93D09C}"/>
              </a:ext>
            </a:extLst>
          </p:cNvPr>
          <p:cNvSpPr/>
          <p:nvPr/>
        </p:nvSpPr>
        <p:spPr>
          <a:xfrm>
            <a:off x="324612" y="5362582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Active support through handover. No ongoing vendor access required post-handover.</a:t>
            </a:r>
            <a:endParaRPr lang="en-US" sz="12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D8709FB4-2A8F-5F78-2C8C-A4EFAD7D72E1}"/>
              </a:ext>
            </a:extLst>
          </p:cNvPr>
          <p:cNvSpPr/>
          <p:nvPr/>
        </p:nvSpPr>
        <p:spPr>
          <a:xfrm>
            <a:off x="4062984" y="1672276"/>
            <a:ext cx="4062984" cy="4417628"/>
          </a:xfrm>
          <a:prstGeom prst="rect">
            <a:avLst/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17C7B7F-CA0E-61D6-895C-299B86DA2314}"/>
              </a:ext>
            </a:extLst>
          </p:cNvPr>
          <p:cNvSpPr/>
          <p:nvPr/>
        </p:nvSpPr>
        <p:spPr>
          <a:xfrm>
            <a:off x="4191000" y="1947806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2A328CE-AB50-4727-2274-9125BE45D70A}"/>
              </a:ext>
            </a:extLst>
          </p:cNvPr>
          <p:cNvSpPr/>
          <p:nvPr/>
        </p:nvSpPr>
        <p:spPr>
          <a:xfrm>
            <a:off x="4364736" y="191123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Triage Logic Definition</a:t>
            </a:r>
            <a:endParaRPr lang="en-US" sz="14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623AE2BC-B08F-8D8D-3D98-48AB75DD0217}"/>
              </a:ext>
            </a:extLst>
          </p:cNvPr>
          <p:cNvSpPr/>
          <p:nvPr/>
        </p:nvSpPr>
        <p:spPr>
          <a:xfrm>
            <a:off x="4364736" y="2139830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Joint workshops define the Property decision tree. Output is what Elevatenow encodes into the rule set.</a:t>
            </a:r>
            <a:endParaRPr lang="en-US" sz="12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EB58A31-E83D-ECCB-9726-B1589DB6ECF9}"/>
              </a:ext>
            </a:extLst>
          </p:cNvPr>
          <p:cNvSpPr/>
          <p:nvPr/>
        </p:nvSpPr>
        <p:spPr>
          <a:xfrm>
            <a:off x="4207764" y="3490247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47EDB85-58AB-9779-D2C0-DF89AE294C90}"/>
              </a:ext>
            </a:extLst>
          </p:cNvPr>
          <p:cNvSpPr/>
          <p:nvPr/>
        </p:nvSpPr>
        <p:spPr>
          <a:xfrm>
            <a:off x="4381500" y="3453671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Claims System Integration</a:t>
            </a:r>
            <a:endParaRPr lang="en-US" sz="14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10ADED8-2EE6-0F5C-F1C4-B121ED33D1EE}"/>
              </a:ext>
            </a:extLst>
          </p:cNvPr>
          <p:cNvSpPr/>
          <p:nvPr/>
        </p:nvSpPr>
        <p:spPr>
          <a:xfrm>
            <a:off x="4381500" y="3682271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Triage decisions written to AXA XL claims system via REST API. AXA XL implements the write-back.</a:t>
            </a:r>
            <a:endParaRPr lang="en-US" sz="12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28E8A12-BDD2-58AD-50C2-E048EBE66B9C}"/>
              </a:ext>
            </a:extLst>
          </p:cNvPr>
          <p:cNvSpPr/>
          <p:nvPr/>
        </p:nvSpPr>
        <p:spPr>
          <a:xfrm>
            <a:off x="4194048" y="4281054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889BB9E-9825-645E-5513-75EF30D70EDC}"/>
              </a:ext>
            </a:extLst>
          </p:cNvPr>
          <p:cNvSpPr/>
          <p:nvPr/>
        </p:nvSpPr>
        <p:spPr>
          <a:xfrm>
            <a:off x="4367784" y="4219078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End-to-End Testing &amp; Acceptance</a:t>
            </a:r>
            <a:endParaRPr lang="en-US" sz="14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4FAC508-543C-723E-F279-E3B0E0634526}"/>
              </a:ext>
            </a:extLst>
          </p:cNvPr>
          <p:cNvSpPr/>
          <p:nvPr/>
        </p:nvSpPr>
        <p:spPr>
          <a:xfrm>
            <a:off x="4367784" y="4473078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Full chain validated from intake through triage to write-back. </a:t>
            </a:r>
            <a:endParaRPr lang="en-US" sz="12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73C7307-8CE6-0BD8-619A-D1F2F024CEC8}"/>
              </a:ext>
            </a:extLst>
          </p:cNvPr>
          <p:cNvSpPr/>
          <p:nvPr/>
        </p:nvSpPr>
        <p:spPr>
          <a:xfrm>
            <a:off x="4194048" y="5056919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F117F847-EB16-9A02-A98D-DEF2EFA01405}"/>
              </a:ext>
            </a:extLst>
          </p:cNvPr>
          <p:cNvSpPr/>
          <p:nvPr/>
        </p:nvSpPr>
        <p:spPr>
          <a:xfrm>
            <a:off x="4401312" y="499509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Administrator Enablement</a:t>
            </a: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1B8864A-E7FA-F200-5D36-005ABC0A96D2}"/>
              </a:ext>
            </a:extLst>
          </p:cNvPr>
          <p:cNvSpPr/>
          <p:nvPr/>
        </p:nvSpPr>
        <p:spPr>
          <a:xfrm>
            <a:off x="4367784" y="5261643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Elevatenow delivers enablement program. AXA XL administrators operate platform independently from handover.</a:t>
            </a:r>
            <a:endParaRPr lang="en-US" sz="12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ACD5438-D25B-E070-7BD9-6022D4F8764A}"/>
              </a:ext>
            </a:extLst>
          </p:cNvPr>
          <p:cNvSpPr/>
          <p:nvPr/>
        </p:nvSpPr>
        <p:spPr>
          <a:xfrm>
            <a:off x="8125968" y="1672276"/>
            <a:ext cx="4062984" cy="4417628"/>
          </a:xfrm>
          <a:prstGeom prst="rect">
            <a:avLst/>
          </a:prstGeom>
          <a:solidFill>
            <a:srgbClr val="FAFBFD"/>
          </a:solidFill>
          <a:ln w="12700">
            <a:solidFill>
              <a:srgbClr val="FAFB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D07C9223-7EBA-0A8D-AE51-72171CE986D4}"/>
              </a:ext>
            </a:extLst>
          </p:cNvPr>
          <p:cNvSpPr/>
          <p:nvPr/>
        </p:nvSpPr>
        <p:spPr>
          <a:xfrm>
            <a:off x="8253984" y="1983239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FDE3E91-9E3E-EFC1-7404-B4F299950E77}"/>
              </a:ext>
            </a:extLst>
          </p:cNvPr>
          <p:cNvSpPr/>
          <p:nvPr/>
        </p:nvSpPr>
        <p:spPr>
          <a:xfrm>
            <a:off x="8427720" y="1946663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Infrastructure Provisioning</a:t>
            </a:r>
            <a:endParaRPr lang="en-US" sz="14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15368643-3437-A84B-66C2-85E8D84217DB}"/>
              </a:ext>
            </a:extLst>
          </p:cNvPr>
          <p:cNvSpPr/>
          <p:nvPr/>
        </p:nvSpPr>
        <p:spPr>
          <a:xfrm>
            <a:off x="0" y="5953894"/>
            <a:ext cx="12188952" cy="594613"/>
          </a:xfrm>
          <a:prstGeom prst="rect">
            <a:avLst/>
          </a:prstGeom>
          <a:solidFill>
            <a:srgbClr val="0F1235"/>
          </a:solidFill>
          <a:ln w="12700">
            <a:solidFill>
              <a:srgbClr val="0F1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7309FCF9-0FDF-EDE0-8441-94A8B4B78421}"/>
              </a:ext>
            </a:extLst>
          </p:cNvPr>
          <p:cNvSpPr/>
          <p:nvPr/>
        </p:nvSpPr>
        <p:spPr>
          <a:xfrm>
            <a:off x="251460" y="61490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INTEGRATION BOUNDARY</a:t>
            </a:r>
            <a:endParaRPr lang="en-US" sz="10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1254543-648F-95FB-FF96-66060616F1A3}"/>
              </a:ext>
            </a:extLst>
          </p:cNvPr>
          <p:cNvSpPr/>
          <p:nvPr/>
        </p:nvSpPr>
        <p:spPr>
          <a:xfrm>
            <a:off x="2216912" y="6149258"/>
            <a:ext cx="9144" cy="164592"/>
          </a:xfrm>
          <a:prstGeom prst="rect">
            <a:avLst/>
          </a:prstGeom>
          <a:solidFill>
            <a:srgbClr val="556677"/>
          </a:solidFill>
          <a:ln w="12700">
            <a:solidFill>
              <a:srgbClr val="5566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6D2BECE5-4307-B423-0468-3A8CE743F7B2}"/>
              </a:ext>
            </a:extLst>
          </p:cNvPr>
          <p:cNvSpPr/>
          <p:nvPr/>
        </p:nvSpPr>
        <p:spPr>
          <a:xfrm>
            <a:off x="2878836" y="6118603"/>
            <a:ext cx="863803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AXA XL delivers structured FNOL events to the </a:t>
            </a:r>
            <a:r>
              <a:rPr lang="en-US" sz="14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triage API. Elevatenow provides the payload schema; AXA XL owns upstream extraction and field mapping.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241B7855-4C60-5AC6-22F3-19A7B58E4A74}"/>
              </a:ext>
            </a:extLst>
          </p:cNvPr>
          <p:cNvSpPr/>
          <p:nvPr/>
        </p:nvSpPr>
        <p:spPr>
          <a:xfrm>
            <a:off x="128016" y="6673681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ea typeface="Inter" pitchFamily="34" charset="-122"/>
                <a:cs typeface="Inter" pitchFamily="34" charset="-120"/>
              </a:rPr>
              <a:t>Elevatenow  ·  Confidential  ·  For AXA XL Internal Review Only  ·  June 2026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D6C160A2-182D-0F78-C606-FA9AD9FD86CC}"/>
              </a:ext>
            </a:extLst>
          </p:cNvPr>
          <p:cNvSpPr/>
          <p:nvPr/>
        </p:nvSpPr>
        <p:spPr>
          <a:xfrm>
            <a:off x="9171432" y="66635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ea typeface="Inter" pitchFamily="34" charset="-122"/>
                <a:cs typeface="Inter" pitchFamily="34" charset="-120"/>
              </a:rPr>
              <a:t>gps@elevatenow.tech  ·  elevatenow.tech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hape 36">
            <a:extLst>
              <a:ext uri="{FF2B5EF4-FFF2-40B4-BE49-F238E27FC236}">
                <a16:creationId xmlns:a16="http://schemas.microsoft.com/office/drawing/2014/main" id="{8455F88E-19C6-B38C-3693-2C3D5F863A29}"/>
              </a:ext>
            </a:extLst>
          </p:cNvPr>
          <p:cNvSpPr/>
          <p:nvPr/>
        </p:nvSpPr>
        <p:spPr>
          <a:xfrm>
            <a:off x="137160" y="3564895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7">
            <a:extLst>
              <a:ext uri="{FF2B5EF4-FFF2-40B4-BE49-F238E27FC236}">
                <a16:creationId xmlns:a16="http://schemas.microsoft.com/office/drawing/2014/main" id="{CEBB03D5-3535-DFF1-1FE3-7D6FD700DDA8}"/>
              </a:ext>
            </a:extLst>
          </p:cNvPr>
          <p:cNvSpPr/>
          <p:nvPr/>
        </p:nvSpPr>
        <p:spPr>
          <a:xfrm>
            <a:off x="310896" y="3528319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</a:t>
            </a: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Intake</a:t>
            </a:r>
            <a:r>
              <a:rPr lang="en-US" sz="1200" b="1" dirty="0">
                <a:solidFill>
                  <a:srgbClr val="1C1C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</a:t>
            </a:r>
            <a:endParaRPr lang="en-US" sz="1200" dirty="0"/>
          </a:p>
        </p:txBody>
      </p:sp>
      <p:sp>
        <p:nvSpPr>
          <p:cNvPr id="5" name="Text 38">
            <a:extLst>
              <a:ext uri="{FF2B5EF4-FFF2-40B4-BE49-F238E27FC236}">
                <a16:creationId xmlns:a16="http://schemas.microsoft.com/office/drawing/2014/main" id="{A7281EAA-18AA-23D9-3456-75136310F67F}"/>
              </a:ext>
            </a:extLst>
          </p:cNvPr>
          <p:cNvSpPr/>
          <p:nvPr/>
        </p:nvSpPr>
        <p:spPr>
          <a:xfrm>
            <a:off x="310896" y="3756919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REST API accepts pre-structured FNOL payload from AXA XL pipeline. Elevatenow provides the full payload schema.</a:t>
            </a:r>
            <a:endParaRPr lang="en-US" sz="1200" dirty="0"/>
          </a:p>
        </p:txBody>
      </p:sp>
      <p:sp>
        <p:nvSpPr>
          <p:cNvPr id="6" name="Shape 49">
            <a:extLst>
              <a:ext uri="{FF2B5EF4-FFF2-40B4-BE49-F238E27FC236}">
                <a16:creationId xmlns:a16="http://schemas.microsoft.com/office/drawing/2014/main" id="{7176D148-DBE9-60CD-C763-17AD82D1843F}"/>
              </a:ext>
            </a:extLst>
          </p:cNvPr>
          <p:cNvSpPr/>
          <p:nvPr/>
        </p:nvSpPr>
        <p:spPr>
          <a:xfrm>
            <a:off x="4163568" y="2707771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0">
            <a:extLst>
              <a:ext uri="{FF2B5EF4-FFF2-40B4-BE49-F238E27FC236}">
                <a16:creationId xmlns:a16="http://schemas.microsoft.com/office/drawing/2014/main" id="{26C3AE6D-36A3-A522-703F-50C134DFEF01}"/>
              </a:ext>
            </a:extLst>
          </p:cNvPr>
          <p:cNvSpPr/>
          <p:nvPr/>
        </p:nvSpPr>
        <p:spPr>
          <a:xfrm>
            <a:off x="4337304" y="2671195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FNOL Payload Schema Alignment</a:t>
            </a:r>
            <a:endParaRPr lang="en-US" sz="1400" dirty="0"/>
          </a:p>
        </p:txBody>
      </p:sp>
      <p:sp>
        <p:nvSpPr>
          <p:cNvPr id="80" name="Text 51">
            <a:extLst>
              <a:ext uri="{FF2B5EF4-FFF2-40B4-BE49-F238E27FC236}">
                <a16:creationId xmlns:a16="http://schemas.microsoft.com/office/drawing/2014/main" id="{C8C8CE9B-AD4C-ECE1-763E-07E6656284DD}"/>
              </a:ext>
            </a:extLst>
          </p:cNvPr>
          <p:cNvSpPr/>
          <p:nvPr/>
        </p:nvSpPr>
        <p:spPr>
          <a:xfrm>
            <a:off x="4337304" y="2899795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maps source data fields to enCODE API schema. Elevatenow validates mapping before integration testing.</a:t>
            </a:r>
            <a:endParaRPr lang="en-US" sz="1200" dirty="0"/>
          </a:p>
        </p:txBody>
      </p:sp>
      <p:sp>
        <p:nvSpPr>
          <p:cNvPr id="84" name="Text 64">
            <a:extLst>
              <a:ext uri="{FF2B5EF4-FFF2-40B4-BE49-F238E27FC236}">
                <a16:creationId xmlns:a16="http://schemas.microsoft.com/office/drawing/2014/main" id="{1A52A926-2769-0789-7379-F92381C0B8E8}"/>
              </a:ext>
            </a:extLst>
          </p:cNvPr>
          <p:cNvSpPr/>
          <p:nvPr/>
        </p:nvSpPr>
        <p:spPr>
          <a:xfrm>
            <a:off x="8427720" y="2213246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Databases, firewall, and API gateway configured to Elevatenow spec before deployment clock starts.</a:t>
            </a:r>
            <a:endParaRPr lang="en-US" sz="1200" dirty="0"/>
          </a:p>
        </p:txBody>
      </p:sp>
      <p:sp>
        <p:nvSpPr>
          <p:cNvPr id="85" name="Shape 65">
            <a:extLst>
              <a:ext uri="{FF2B5EF4-FFF2-40B4-BE49-F238E27FC236}">
                <a16:creationId xmlns:a16="http://schemas.microsoft.com/office/drawing/2014/main" id="{A48D767D-AB1B-7556-5B3F-502D33A38CB5}"/>
              </a:ext>
            </a:extLst>
          </p:cNvPr>
          <p:cNvSpPr/>
          <p:nvPr/>
        </p:nvSpPr>
        <p:spPr>
          <a:xfrm>
            <a:off x="8252460" y="2722151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6">
            <a:extLst>
              <a:ext uri="{FF2B5EF4-FFF2-40B4-BE49-F238E27FC236}">
                <a16:creationId xmlns:a16="http://schemas.microsoft.com/office/drawing/2014/main" id="{77582C3C-D977-D804-FFEA-00CE23EE1FF9}"/>
              </a:ext>
            </a:extLst>
          </p:cNvPr>
          <p:cNvSpPr/>
          <p:nvPr/>
        </p:nvSpPr>
        <p:spPr>
          <a:xfrm>
            <a:off x="8426196" y="2685575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FNOL Document Intake Pipeline</a:t>
            </a:r>
            <a:endParaRPr lang="en-US" sz="1200" dirty="0"/>
          </a:p>
        </p:txBody>
      </p:sp>
      <p:sp>
        <p:nvSpPr>
          <p:cNvPr id="87" name="Text 67">
            <a:extLst>
              <a:ext uri="{FF2B5EF4-FFF2-40B4-BE49-F238E27FC236}">
                <a16:creationId xmlns:a16="http://schemas.microsoft.com/office/drawing/2014/main" id="{70C5F796-CAEC-BE69-702A-27A36B9252EF}"/>
              </a:ext>
            </a:extLst>
          </p:cNvPr>
          <p:cNvSpPr/>
          <p:nvPr/>
        </p:nvSpPr>
        <p:spPr>
          <a:xfrm>
            <a:off x="8426196" y="2914175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pipeline extracts and normalizes inbound Property FNOLs and delivers structured events to enCODE API.</a:t>
            </a:r>
            <a:endParaRPr lang="en-US" sz="1000" dirty="0"/>
          </a:p>
        </p:txBody>
      </p:sp>
      <p:sp>
        <p:nvSpPr>
          <p:cNvPr id="88" name="Shape 68">
            <a:extLst>
              <a:ext uri="{FF2B5EF4-FFF2-40B4-BE49-F238E27FC236}">
                <a16:creationId xmlns:a16="http://schemas.microsoft.com/office/drawing/2014/main" id="{29259B62-D202-1AB0-D979-4FD6A4BA12F0}"/>
              </a:ext>
            </a:extLst>
          </p:cNvPr>
          <p:cNvSpPr/>
          <p:nvPr/>
        </p:nvSpPr>
        <p:spPr>
          <a:xfrm>
            <a:off x="8262620" y="3424284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E5C7ADD6-5A86-F4C6-2B48-956DD3FAAC6A}"/>
              </a:ext>
            </a:extLst>
          </p:cNvPr>
          <p:cNvSpPr/>
          <p:nvPr/>
        </p:nvSpPr>
        <p:spPr>
          <a:xfrm>
            <a:off x="8436356" y="3387708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Business Requirements</a:t>
            </a:r>
            <a:endParaRPr lang="en-US" sz="1400" dirty="0"/>
          </a:p>
        </p:txBody>
      </p:sp>
      <p:sp>
        <p:nvSpPr>
          <p:cNvPr id="90" name="Text 70">
            <a:extLst>
              <a:ext uri="{FF2B5EF4-FFF2-40B4-BE49-F238E27FC236}">
                <a16:creationId xmlns:a16="http://schemas.microsoft.com/office/drawing/2014/main" id="{6353F9BF-947F-3F24-2879-4ABBE3597FBE}"/>
              </a:ext>
            </a:extLst>
          </p:cNvPr>
          <p:cNvSpPr/>
          <p:nvPr/>
        </p:nvSpPr>
        <p:spPr>
          <a:xfrm>
            <a:off x="8436356" y="3616308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claims leadership defines Property triage decision criteria. This input is what Elevatenow encodes.</a:t>
            </a:r>
            <a:endParaRPr lang="en-US" sz="1200" dirty="0"/>
          </a:p>
        </p:txBody>
      </p:sp>
      <p:sp>
        <p:nvSpPr>
          <p:cNvPr id="91" name="Shape 71">
            <a:extLst>
              <a:ext uri="{FF2B5EF4-FFF2-40B4-BE49-F238E27FC236}">
                <a16:creationId xmlns:a16="http://schemas.microsoft.com/office/drawing/2014/main" id="{3FDC39AE-D673-0E33-2A91-346AC0FDD4B8}"/>
              </a:ext>
            </a:extLst>
          </p:cNvPr>
          <p:cNvSpPr/>
          <p:nvPr/>
        </p:nvSpPr>
        <p:spPr>
          <a:xfrm>
            <a:off x="8247888" y="4151502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72">
            <a:extLst>
              <a:ext uri="{FF2B5EF4-FFF2-40B4-BE49-F238E27FC236}">
                <a16:creationId xmlns:a16="http://schemas.microsoft.com/office/drawing/2014/main" id="{20983D30-2C02-1BB1-776E-BD9F7A5041C5}"/>
              </a:ext>
            </a:extLst>
          </p:cNvPr>
          <p:cNvSpPr/>
          <p:nvPr/>
        </p:nvSpPr>
        <p:spPr>
          <a:xfrm>
            <a:off x="8421624" y="4114926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Post-Handover Operations</a:t>
            </a:r>
            <a:endParaRPr lang="en-US" sz="1400" dirty="0"/>
          </a:p>
        </p:txBody>
      </p:sp>
      <p:sp>
        <p:nvSpPr>
          <p:cNvPr id="93" name="Text 73">
            <a:extLst>
              <a:ext uri="{FF2B5EF4-FFF2-40B4-BE49-F238E27FC236}">
                <a16:creationId xmlns:a16="http://schemas.microsoft.com/office/drawing/2014/main" id="{8C4710CD-DA74-93A5-0DC4-0D2EB90D8E77}"/>
              </a:ext>
            </a:extLst>
          </p:cNvPr>
          <p:cNvSpPr/>
          <p:nvPr/>
        </p:nvSpPr>
        <p:spPr>
          <a:xfrm>
            <a:off x="8421624" y="4343526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administrators run enCODE configuration environment. Quarterly updates self-applied.</a:t>
            </a:r>
            <a:endParaRPr lang="en-US" sz="1200" dirty="0"/>
          </a:p>
        </p:txBody>
      </p:sp>
      <p:sp>
        <p:nvSpPr>
          <p:cNvPr id="94" name="Shape 74">
            <a:extLst>
              <a:ext uri="{FF2B5EF4-FFF2-40B4-BE49-F238E27FC236}">
                <a16:creationId xmlns:a16="http://schemas.microsoft.com/office/drawing/2014/main" id="{E928273E-FC69-F0E5-5771-F75C1D425338}"/>
              </a:ext>
            </a:extLst>
          </p:cNvPr>
          <p:cNvSpPr/>
          <p:nvPr/>
        </p:nvSpPr>
        <p:spPr>
          <a:xfrm>
            <a:off x="8238744" y="4945636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75">
            <a:extLst>
              <a:ext uri="{FF2B5EF4-FFF2-40B4-BE49-F238E27FC236}">
                <a16:creationId xmlns:a16="http://schemas.microsoft.com/office/drawing/2014/main" id="{30C5D709-0980-8E9B-6FE7-2ED6101B58A9}"/>
              </a:ext>
            </a:extLst>
          </p:cNvPr>
          <p:cNvSpPr/>
          <p:nvPr/>
        </p:nvSpPr>
        <p:spPr>
          <a:xfrm>
            <a:off x="8412480" y="490906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Audit and Data Governance</a:t>
            </a:r>
            <a:endParaRPr lang="en-US" sz="1400" dirty="0"/>
          </a:p>
        </p:txBody>
      </p:sp>
      <p:sp>
        <p:nvSpPr>
          <p:cNvPr id="96" name="Text 76">
            <a:extLst>
              <a:ext uri="{FF2B5EF4-FFF2-40B4-BE49-F238E27FC236}">
                <a16:creationId xmlns:a16="http://schemas.microsoft.com/office/drawing/2014/main" id="{F4345517-F7DB-C46F-DC58-B3E9CD910A61}"/>
              </a:ext>
            </a:extLst>
          </p:cNvPr>
          <p:cNvSpPr/>
          <p:nvPr/>
        </p:nvSpPr>
        <p:spPr>
          <a:xfrm>
            <a:off x="8412480" y="5137660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All FNOL decisions and logs retained within AXA XL infrastructure. No data leaves AXA XL environment.</a:t>
            </a:r>
            <a:endParaRPr lang="en-US" sz="1200" dirty="0"/>
          </a:p>
        </p:txBody>
      </p:sp>
      <p:pic>
        <p:nvPicPr>
          <p:cNvPr id="35" name="Picture 34" descr="A black and white logo&#10;&#10;Description automatically generated">
            <a:extLst>
              <a:ext uri="{FF2B5EF4-FFF2-40B4-BE49-F238E27FC236}">
                <a16:creationId xmlns:a16="http://schemas.microsoft.com/office/drawing/2014/main" id="{9058715D-AA4F-4892-A33F-60F4991615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2" t="44706" r="29411" b="43738"/>
          <a:stretch/>
        </p:blipFill>
        <p:spPr>
          <a:xfrm>
            <a:off x="118872" y="55034"/>
            <a:ext cx="1418107" cy="223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46"/>
          </a:solidFill>
          <a:ln w="12700">
            <a:solidFill>
              <a:srgbClr val="1C1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4572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5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PREPARED FOR AXA XL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0" y="201168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June 2026  ·  enCODE Platform 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365760"/>
            <a:ext cx="121889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8" y="952054"/>
            <a:ext cx="12188952" cy="9144"/>
          </a:xfrm>
          <a:prstGeom prst="rect">
            <a:avLst/>
          </a:prstGeom>
          <a:solidFill>
            <a:srgbClr val="E0E4F0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86843" y="90137"/>
            <a:ext cx="8467979" cy="182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ENCODE  ·  PROPERTY LOB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7640" y="446067"/>
            <a:ext cx="9509760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Elevatenow manages the full FNOL path from document intake through triage, operating within AXA XL infrastructure with no ongoing vendor dependency from go-live.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149840" y="429768"/>
            <a:ext cx="1810512" cy="402336"/>
          </a:xfrm>
          <a:prstGeom prst="rect">
            <a:avLst/>
          </a:prstGeom>
          <a:solidFill>
            <a:srgbClr val="1C1C46"/>
          </a:solidFill>
          <a:ln w="19050">
            <a:solidFill>
              <a:srgbClr val="1C1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49840" y="47548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TRACK 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49840" y="630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With Document Intelligence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62984" y="896112"/>
            <a:ext cx="9144" cy="5193792"/>
          </a:xfrm>
          <a:prstGeom prst="rect">
            <a:avLst/>
          </a:prstGeom>
          <a:solidFill>
            <a:srgbClr val="E0E4F0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25968" y="896112"/>
            <a:ext cx="9144" cy="5193792"/>
          </a:xfrm>
          <a:prstGeom prst="rect">
            <a:avLst/>
          </a:prstGeom>
          <a:solidFill>
            <a:srgbClr val="E0E4F0"/>
          </a:solidFill>
          <a:ln w="12700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48" y="961198"/>
            <a:ext cx="4062984" cy="721164"/>
          </a:xfrm>
          <a:prstGeom prst="rect">
            <a:avLst/>
          </a:prstGeom>
          <a:solidFill>
            <a:srgbClr val="1C1C46"/>
          </a:solidFill>
          <a:ln w="12700">
            <a:solidFill>
              <a:srgbClr val="1C1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7640" y="997774"/>
            <a:ext cx="3861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LANE 1 · ELEVATENOW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7640" y="1183882"/>
            <a:ext cx="386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Platform Vendor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7640" y="1435612"/>
            <a:ext cx="3861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Intake  ·  triage intelligence  ·  knowledge layer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066032" y="961198"/>
            <a:ext cx="4062984" cy="721164"/>
          </a:xfrm>
          <a:prstGeom prst="rect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30624" y="997774"/>
            <a:ext cx="3861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8C4FF"/>
                </a:solidFill>
                <a:ea typeface="Inter" pitchFamily="34" charset="-122"/>
                <a:cs typeface="Inter" pitchFamily="34" charset="-120"/>
              </a:rPr>
              <a:t>LANE 2 · JOINT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30624" y="1183882"/>
            <a:ext cx="386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Collaborative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30624" y="1457128"/>
            <a:ext cx="3861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Triage logic  ·  integration  ·  testing  ·  enablement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29016" y="961198"/>
            <a:ext cx="4062984" cy="7211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93608" y="997774"/>
            <a:ext cx="3861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145EA"/>
                </a:solidFill>
                <a:ea typeface="Inter" pitchFamily="34" charset="-122"/>
                <a:cs typeface="Inter" pitchFamily="34" charset="-120"/>
              </a:rPr>
              <a:t>LANE 3 · AXA XL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93608" y="1183882"/>
            <a:ext cx="3861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Internal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93608" y="1435612"/>
            <a:ext cx="3861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Infrastructure  ·  business ownership  ·  operations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1672276"/>
            <a:ext cx="4062984" cy="4417628"/>
          </a:xfrm>
          <a:prstGeom prst="rect">
            <a:avLst/>
          </a:prstGeom>
          <a:solidFill>
            <a:srgbClr val="F3F5FF"/>
          </a:solidFill>
          <a:ln w="12700">
            <a:solidFill>
              <a:srgbClr val="F3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8016" y="1947806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301752" y="191123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Platform Deployment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1752" y="2139830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Deployed on AXA XL infrastructure to Elevatenow spec. Readiness confirmed before project clock starts.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8872" y="2724538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292608" y="2687962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FNOL Document Intake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2608" y="2916562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Inbound Property FNOLs via email and attachment. Elevatenow extracts structured fields and normalizes to triage schema.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28016" y="3642345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301752" y="3605769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Property Triage Rules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1752" y="3834369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Jurisdiction-specific rule set: cause of loss, coverage triggers, state deadlines, reserve indicators.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8872" y="4391264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292608" y="4354688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Knowledge Layer + Quarterly Updates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92608" y="4583288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Property coverage logic and jurisdiction frameworks. Versioned updates self-applied by AXA XL administrators.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" y="5195958"/>
            <a:ext cx="100584" cy="100584"/>
          </a:xfrm>
          <a:prstGeom prst="ellipse">
            <a:avLst/>
          </a:prstGeom>
          <a:solidFill>
            <a:srgbClr val="2145EA"/>
          </a:solidFill>
          <a:ln w="12700">
            <a:solidFill>
              <a:srgbClr val="2145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324612" y="5133982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60-Day Go-Live Support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24612" y="5362582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Active support through handover. No ongoing vendor access required post-handover.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062984" y="1672276"/>
            <a:ext cx="4062984" cy="4417628"/>
          </a:xfrm>
          <a:prstGeom prst="rect">
            <a:avLst/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191000" y="1947806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4364736" y="191123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Triage Logic Definition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364736" y="2139830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Joint workshops define the Property decision tree. Output is what Elevatenow encodes into the rule set.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95572" y="2705742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2" name="Text 50"/>
          <p:cNvSpPr/>
          <p:nvPr/>
        </p:nvSpPr>
        <p:spPr>
          <a:xfrm>
            <a:off x="4369308" y="2669166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Claims System Integration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369308" y="2897766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Triage decisions written to AXA XL claims system via REST API. AXA XL implements the write-back.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181856" y="3496549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5" name="Text 53"/>
          <p:cNvSpPr/>
          <p:nvPr/>
        </p:nvSpPr>
        <p:spPr>
          <a:xfrm>
            <a:off x="4355592" y="3434573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End-to-End Testing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355592" y="3688573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Full chain validated from intake through triage to write-back. Pass/fail criteria agreed upfront.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181856" y="4272414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8" name="Text 56"/>
          <p:cNvSpPr/>
          <p:nvPr/>
        </p:nvSpPr>
        <p:spPr>
          <a:xfrm>
            <a:off x="4389120" y="4210585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Administrator Enablement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355592" y="4477138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Elevatenow delivers enablement program. AXA XL administrators operate platform independently from handover.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181856" y="5174996"/>
            <a:ext cx="100584" cy="100584"/>
          </a:xfrm>
          <a:prstGeom prst="ellipse">
            <a:avLst/>
          </a:prstGeom>
          <a:solidFill>
            <a:srgbClr val="5B74D8"/>
          </a:solidFill>
          <a:ln w="12700">
            <a:solidFill>
              <a:srgbClr val="5B74D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1" name="Text 59"/>
          <p:cNvSpPr/>
          <p:nvPr/>
        </p:nvSpPr>
        <p:spPr>
          <a:xfrm>
            <a:off x="4355592" y="5151120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Go-Live Acceptance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355592" y="5379720"/>
            <a:ext cx="361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claims ops validates triage output against adjuster standards. Acceptance triggers handover milestone.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125968" y="1672276"/>
            <a:ext cx="4062984" cy="4417628"/>
          </a:xfrm>
          <a:prstGeom prst="rect">
            <a:avLst/>
          </a:prstGeom>
          <a:solidFill>
            <a:srgbClr val="FAFBFD"/>
          </a:solidFill>
          <a:ln w="12700">
            <a:solidFill>
              <a:srgbClr val="FAFB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253984" y="1983239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5" name="Text 63"/>
          <p:cNvSpPr/>
          <p:nvPr/>
        </p:nvSpPr>
        <p:spPr>
          <a:xfrm>
            <a:off x="8427720" y="1946663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Infrastructure Provisioning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427720" y="2175263"/>
            <a:ext cx="3614928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Databases, firewall, and API gateway configured to Elevatenow spec before deployment clock starts.
</a:t>
            </a:r>
            <a:r>
              <a:rPr lang="en-US" sz="1000" i="1" dirty="0">
                <a:solidFill>
                  <a:srgbClr val="888888"/>
                </a:solidFill>
                <a:ea typeface="Inter" pitchFamily="34" charset="-122"/>
                <a:cs typeface="Inter" pitchFamily="34" charset="-120"/>
              </a:rPr>
              <a:t>* Email/attachment processing infrastructure runs within AXA XL environment as a direct pass-through cost.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253984" y="3104507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8" name="Text 66"/>
          <p:cNvSpPr/>
          <p:nvPr/>
        </p:nvSpPr>
        <p:spPr>
          <a:xfrm>
            <a:off x="8427720" y="3067931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Business Requirements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427720" y="3296531"/>
            <a:ext cx="3614928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claims leadership defines Property triage decision criteria. This input is what Elevatenow encodes.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290560" y="3938404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1" name="Text 69"/>
          <p:cNvSpPr/>
          <p:nvPr/>
        </p:nvSpPr>
        <p:spPr>
          <a:xfrm>
            <a:off x="8464296" y="3901828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Post-Handover Operations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64296" y="4130428"/>
            <a:ext cx="3614928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AXA XL administrators run enCODE configuration environment. Quarterly updates self-applied.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290560" y="4749127"/>
            <a:ext cx="100584" cy="100584"/>
          </a:xfrm>
          <a:prstGeom prst="ellipse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8464296" y="4687151"/>
            <a:ext cx="3614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46"/>
                </a:solidFill>
                <a:ea typeface="Inter" pitchFamily="34" charset="-122"/>
                <a:cs typeface="Inter" pitchFamily="34" charset="-120"/>
              </a:rPr>
              <a:t>Audit and Data Governance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464296" y="4991951"/>
            <a:ext cx="3614928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All FNOL decisions and logs retained within AXA XL infrastructure. No data leaves AXA XL environment.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0" y="5953894"/>
            <a:ext cx="12188952" cy="594613"/>
          </a:xfrm>
          <a:prstGeom prst="rect">
            <a:avLst/>
          </a:prstGeom>
          <a:solidFill>
            <a:srgbClr val="0F1235"/>
          </a:solidFill>
          <a:ln w="12700">
            <a:solidFill>
              <a:srgbClr val="0F1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51460" y="61490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7CBFF"/>
                </a:solidFill>
                <a:ea typeface="Inter" pitchFamily="34" charset="-122"/>
                <a:cs typeface="Inter" pitchFamily="34" charset="-120"/>
              </a:rPr>
              <a:t>INTEGRATION BOUNDARY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216912" y="6149258"/>
            <a:ext cx="9144" cy="164592"/>
          </a:xfrm>
          <a:prstGeom prst="rect">
            <a:avLst/>
          </a:prstGeom>
          <a:solidFill>
            <a:srgbClr val="556677"/>
          </a:solidFill>
          <a:ln w="12700">
            <a:solidFill>
              <a:srgbClr val="5566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878836" y="6118604"/>
            <a:ext cx="7105396" cy="243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Elevatenow receives FNOL documents and drives the full triage chain. AXA XL claims system receives the decision via API. Integration point is the claims system write-back.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1" name="Text 79"/>
          <p:cNvSpPr/>
          <p:nvPr/>
        </p:nvSpPr>
        <p:spPr>
          <a:xfrm>
            <a:off x="128016" y="6673681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ea typeface="Inter" pitchFamily="34" charset="-122"/>
                <a:cs typeface="Inter" pitchFamily="34" charset="-120"/>
              </a:rPr>
              <a:t>Elevatenow  ·  Confidential  ·  For AXA XL Internal Review Only  ·  June 2026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9171432" y="66635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ea typeface="Inter" pitchFamily="34" charset="-122"/>
                <a:cs typeface="Inter" pitchFamily="34" charset="-120"/>
              </a:rPr>
              <a:t>gps@elevatenow.tech  ·  elevatenow.tech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D81FE4B4-853C-D7FD-1180-311629DF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2" t="44706" r="29411" b="43738"/>
          <a:stretch/>
        </p:blipFill>
        <p:spPr>
          <a:xfrm>
            <a:off x="118872" y="55034"/>
            <a:ext cx="1418107" cy="223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2144</Words>
  <Application>Microsoft Macintosh PowerPoint</Application>
  <PresentationFormat>Widescreen</PresentationFormat>
  <Paragraphs>307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Core Team</cp:lastModifiedBy>
  <cp:revision>2</cp:revision>
  <dcterms:created xsi:type="dcterms:W3CDTF">2013-01-27T09:14:16Z</dcterms:created>
  <dcterms:modified xsi:type="dcterms:W3CDTF">2026-06-24T03:06:16Z</dcterms:modified>
  <cp:category/>
</cp:coreProperties>
</file>